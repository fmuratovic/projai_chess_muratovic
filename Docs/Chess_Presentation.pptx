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10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Board + perft. 45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Search. 50 seconds. The chart is the evidence that pruning 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Difficulty + engineering. 40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Application. 25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Close. 20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2606040"/>
            <a:ext cx="777240" cy="777240"/>
          </a:xfrm>
          <a:prstGeom prst="rect">
            <a:avLst/>
          </a:prstGeom>
          <a:solidFill>
            <a:srgbClr val="24402A"/>
          </a:solidFill>
          <a:ln/>
        </p:spPr>
      </p:sp>
      <p:sp>
        <p:nvSpPr>
          <p:cNvPr id="3" name="Shape 1"/>
          <p:cNvSpPr/>
          <p:nvPr/>
        </p:nvSpPr>
        <p:spPr>
          <a:xfrm>
            <a:off x="8732520" y="4160520"/>
            <a:ext cx="777240" cy="777240"/>
          </a:xfrm>
          <a:prstGeom prst="rect">
            <a:avLst/>
          </a:prstGeom>
          <a:solidFill>
            <a:srgbClr val="24402A"/>
          </a:solidFill>
          <a:ln/>
        </p:spPr>
      </p:sp>
      <p:sp>
        <p:nvSpPr>
          <p:cNvPr id="4" name="Shape 2"/>
          <p:cNvSpPr/>
          <p:nvPr/>
        </p:nvSpPr>
        <p:spPr>
          <a:xfrm>
            <a:off x="9509760" y="1828800"/>
            <a:ext cx="777240" cy="777240"/>
          </a:xfrm>
          <a:prstGeom prst="rect">
            <a:avLst/>
          </a:prstGeom>
          <a:solidFill>
            <a:srgbClr val="24402A"/>
          </a:solidFill>
          <a:ln/>
        </p:spPr>
      </p:sp>
      <p:sp>
        <p:nvSpPr>
          <p:cNvPr id="5" name="Shape 3"/>
          <p:cNvSpPr/>
          <p:nvPr/>
        </p:nvSpPr>
        <p:spPr>
          <a:xfrm>
            <a:off x="9509760" y="3383280"/>
            <a:ext cx="777240" cy="777240"/>
          </a:xfrm>
          <a:prstGeom prst="rect">
            <a:avLst/>
          </a:prstGeom>
          <a:solidFill>
            <a:srgbClr val="24402A"/>
          </a:solidFill>
          <a:ln/>
        </p:spPr>
      </p:sp>
      <p:sp>
        <p:nvSpPr>
          <p:cNvPr id="6" name="Shape 4"/>
          <p:cNvSpPr/>
          <p:nvPr/>
        </p:nvSpPr>
        <p:spPr>
          <a:xfrm>
            <a:off x="10287000" y="2606040"/>
            <a:ext cx="777240" cy="777240"/>
          </a:xfrm>
          <a:prstGeom prst="rect">
            <a:avLst/>
          </a:prstGeom>
          <a:solidFill>
            <a:srgbClr val="24402A"/>
          </a:solidFill>
          <a:ln/>
        </p:spPr>
      </p:sp>
      <p:sp>
        <p:nvSpPr>
          <p:cNvPr id="7" name="Shape 5"/>
          <p:cNvSpPr/>
          <p:nvPr/>
        </p:nvSpPr>
        <p:spPr>
          <a:xfrm>
            <a:off x="10287000" y="4160520"/>
            <a:ext cx="777240" cy="777240"/>
          </a:xfrm>
          <a:prstGeom prst="rect">
            <a:avLst/>
          </a:prstGeom>
          <a:solidFill>
            <a:srgbClr val="24402A"/>
          </a:solidFill>
          <a:ln/>
        </p:spPr>
      </p:sp>
      <p:sp>
        <p:nvSpPr>
          <p:cNvPr id="8" name="Shape 6"/>
          <p:cNvSpPr/>
          <p:nvPr/>
        </p:nvSpPr>
        <p:spPr>
          <a:xfrm>
            <a:off x="11064240" y="1828800"/>
            <a:ext cx="777240" cy="777240"/>
          </a:xfrm>
          <a:prstGeom prst="rect">
            <a:avLst/>
          </a:prstGeom>
          <a:solidFill>
            <a:srgbClr val="24402A"/>
          </a:solidFill>
          <a:ln/>
        </p:spPr>
      </p:sp>
      <p:sp>
        <p:nvSpPr>
          <p:cNvPr id="9" name="Shape 7"/>
          <p:cNvSpPr/>
          <p:nvPr/>
        </p:nvSpPr>
        <p:spPr>
          <a:xfrm>
            <a:off x="11064240" y="3383280"/>
            <a:ext cx="777240" cy="777240"/>
          </a:xfrm>
          <a:prstGeom prst="rect">
            <a:avLst/>
          </a:prstGeom>
          <a:solidFill>
            <a:srgbClr val="24402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18288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Bitboard Chess Engine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560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Alpha–Beta Search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4290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DF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generation verified by perft  ·  transposition table  ·  time-budgeted levels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41248" y="4206240"/>
            <a:ext cx="1371600" cy="3200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480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Faris Muratovic  ·  19958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846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·  Instructor: Prof. Dr. Izudin Dzafic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board, and proving the rules are right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64-bit integers — one bit per square, one board per piece type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577840" cy="1417320"/>
          </a:xfrm>
          <a:prstGeom prst="roundRect">
            <a:avLst>
              <a:gd name="adj" fmla="val 5161"/>
            </a:avLst>
          </a:prstGeom>
          <a:solidFill>
            <a:srgbClr val="EDF3E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6479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uint64_t  whitePawns, whiteKnights, …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76272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pieces attack this square?” becomes a handful of AND / OR / shift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and a population count — the reason every strong engine uses bitboards.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918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Perft: count every legal leaf, compare with published values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749040"/>
            <a:ext cx="5577840" cy="420624"/>
          </a:xfrm>
          <a:prstGeom prst="rect">
            <a:avLst/>
          </a:prstGeom>
          <a:solidFill>
            <a:srgbClr val="EDF3E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38221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3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position, depth 5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38221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3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4 865 609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38221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match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224528"/>
            <a:ext cx="5577840" cy="420624"/>
          </a:xfrm>
          <a:prstGeom prst="rect">
            <a:avLst/>
          </a:prstGeom>
          <a:solidFill>
            <a:srgbClr val="F5F8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42976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3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Kiwipete, depth 4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4297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3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4 085 603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4297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match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700016"/>
            <a:ext cx="5577840" cy="420624"/>
          </a:xfrm>
          <a:prstGeom prst="rect">
            <a:avLst/>
          </a:prstGeom>
          <a:solidFill>
            <a:srgbClr val="EDF3E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47731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3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3, depth 5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383280" y="47731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3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674 624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4773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match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175504"/>
            <a:ext cx="5577840" cy="420624"/>
          </a:xfrm>
          <a:prstGeom prst="rect">
            <a:avLst/>
          </a:prstGeom>
          <a:solidFill>
            <a:srgbClr val="F5F8F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52486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3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4, depth 4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3383280" y="524865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3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422 333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120640" y="5248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match</a:t>
            </a:r>
            <a:endParaRPr lang="en-US" sz="1200" dirty="0"/>
          </a:p>
        </p:txBody>
      </p:sp>
      <p:pic>
        <p:nvPicPr>
          <p:cNvPr id="24" name="Image 0" descr="ai_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600200"/>
            <a:ext cx="3657600" cy="365760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6720840" y="53309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Castling, en passant, promotion and pins — all exercised by the four test positions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2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opponent thinks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9B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Negamax with alpha–beta: prove a move is too good for the opponent to allow, and stop searching 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1143000"/>
          </a:xfrm>
          <a:prstGeom prst="roundRect">
            <a:avLst>
              <a:gd name="adj" fmla="val 6400"/>
            </a:avLst>
          </a:prstGeom>
          <a:solidFill>
            <a:srgbClr val="24402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099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 ordering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39112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F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by MVV–LVA, killer and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DF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heuristics — cutoffs come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DF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only if good moves go first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898648"/>
            <a:ext cx="5394960" cy="1143000"/>
          </a:xfrm>
          <a:prstGeom prst="roundRect">
            <a:avLst>
              <a:gd name="adj" fmla="val 6400"/>
            </a:avLst>
          </a:prstGeom>
          <a:solidFill>
            <a:srgbClr val="2440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00837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Transposition table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33756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F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Zobrist hash, 16 MB;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DF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position reached by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DF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move order is not re-searched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197096"/>
            <a:ext cx="5394960" cy="1143000"/>
          </a:xfrm>
          <a:prstGeom prst="roundRect">
            <a:avLst>
              <a:gd name="adj" fmla="val 6400"/>
            </a:avLst>
          </a:prstGeom>
          <a:solidFill>
            <a:srgbClr val="24402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430682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Quiescence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636008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F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searching captures past the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DF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so the engine does not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DF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 a piece one ply too late</a:t>
            </a:r>
            <a:endParaRPr lang="en-US" sz="1250" dirty="0"/>
          </a:p>
        </p:txBody>
      </p:sp>
      <p:pic>
        <p:nvPicPr>
          <p:cNvPr id="13" name="Image 0" descr="ai_pru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737360"/>
            <a:ext cx="5394960" cy="310896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6309360" y="49834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effective branching factor:  2 – 6,  against 20 – 48 legal moves per position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Difficulty is a clock, not a depth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extra ply costs 10× more in a dense middlegame than in a sparse endgame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DF3E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81051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945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 ms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401568" y="16459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DF3E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30168" y="181051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630168" y="21945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400 ms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6254496" y="16459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DF3E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83096" y="181051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83096" y="21945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 ms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9107424" y="16459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2C5F2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336024" y="181051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336024" y="21945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2200 ms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1272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move — the search starts another iteration only if it estimates it will finish in time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3758184"/>
            <a:ext cx="256032" cy="256032"/>
          </a:xfrm>
          <a:prstGeom prst="ellipse">
            <a:avLst/>
          </a:prstGeom>
          <a:solidFill>
            <a:srgbClr val="C8922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87552" y="3703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deepening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114800" y="372160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1, 2, 3 … — each pass makes the next one faster by ordering the best move first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4471416"/>
            <a:ext cx="256032" cy="256032"/>
          </a:xfrm>
          <a:prstGeom prst="ellipse">
            <a:avLst/>
          </a:prstGeom>
          <a:solidFill>
            <a:srgbClr val="C8922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87552" y="44165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Root-parallel final pass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114800" y="44348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moves spread over all cores, each thread with its own board and table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66928" y="5184648"/>
            <a:ext cx="256032" cy="256032"/>
          </a:xfrm>
          <a:prstGeom prst="ellipse">
            <a:avLst/>
          </a:prstGeom>
          <a:solidFill>
            <a:srgbClr val="C8922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87552" y="512978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thread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114800" y="514807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search never runs on the UI thread, so the board keeps painting while the bot thinks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2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application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9B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natID / natGUI  ·  drag-and-drop board drawn on a canvas</a:t>
            </a:r>
            <a:endParaRPr lang="en-US" sz="1400" dirty="0"/>
          </a:p>
        </p:txBody>
      </p:sp>
      <p:pic>
        <p:nvPicPr>
          <p:cNvPr id="4" name="Image 0" descr="ai_st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4846320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06440" y="1883664"/>
            <a:ext cx="201168" cy="20116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199632" y="181051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DF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vs human, or vs the bot on either colour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806440" y="2487168"/>
            <a:ext cx="201168" cy="20116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199632" y="241401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DF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destinations highlighted on pick-up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806440" y="3090672"/>
            <a:ext cx="201168" cy="20116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199632" y="3017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DF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picker, undo and redo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806440" y="3694176"/>
            <a:ext cx="201168" cy="20116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199632" y="362102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DF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Captured-piece panels, Bosnian / English UI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806440" y="4297680"/>
            <a:ext cx="201168" cy="20116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199632" y="42245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DF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Draws: stalemate, 50-move, repetition, material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806440" y="4937760"/>
            <a:ext cx="5852160" cy="777240"/>
          </a:xfrm>
          <a:prstGeom prst="roundRect">
            <a:avLst>
              <a:gd name="adj" fmla="val 9412"/>
            </a:avLst>
          </a:prstGeom>
          <a:solidFill>
            <a:srgbClr val="24402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053328" y="50749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compiles stand-alone — every number in the report</a:t>
            </a: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measured without the GUI.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take from it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109960" cy="1170432"/>
          </a:xfrm>
          <a:prstGeom prst="roundRect">
            <a:avLst>
              <a:gd name="adj" fmla="val 6250"/>
            </a:avLst>
          </a:prstGeom>
          <a:solidFill>
            <a:srgbClr val="EDF3E7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801368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801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5819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errors visible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96596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Perft and an incrementally maintained hash caught two move-generation bugs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no amount of play-testing would have isolated.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1109960" cy="1170432"/>
          </a:xfrm>
          <a:prstGeom prst="roundRect">
            <a:avLst>
              <a:gd name="adj" fmla="val 6250"/>
            </a:avLst>
          </a:prstGeom>
          <a:solidFill>
            <a:srgbClr val="F5F8F2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3172968"/>
            <a:ext cx="402336" cy="402336"/>
          </a:xfrm>
          <a:prstGeom prst="ellipse">
            <a:avLst/>
          </a:prstGeom>
          <a:solidFill>
            <a:srgbClr val="C8922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172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29535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 before choosing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333756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levels, time budgets and the per-ply growth estimate all came from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measurement, not from guessing what felt right.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160520"/>
            <a:ext cx="11109960" cy="1170432"/>
          </a:xfrm>
          <a:prstGeom prst="roundRect">
            <a:avLst>
              <a:gd name="adj" fmla="val 6250"/>
            </a:avLst>
          </a:prstGeom>
          <a:solidFill>
            <a:srgbClr val="EDF3E7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4544568"/>
            <a:ext cx="402336" cy="402336"/>
          </a:xfrm>
          <a:prstGeom prst="ellipse">
            <a:avLst/>
          </a:prstGeom>
          <a:solidFill>
            <a:srgbClr val="3F6E8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4544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43251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the search off the UI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70916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position, release the lock, search on the copy — the first version froze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E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interface for the bot's entire think time.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71500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Bitboards + alpha–beta + a transposition table: a complete, verified opponent in 2 600 lines of engine code.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Bitboard Chess Engine with Alpha-Beta Search</dc:title>
  <dc:subject>PptxGenJS Presentation</dc:subject>
  <dc:creator>Faris Muratovic</dc:creator>
  <cp:lastModifiedBy>Faris Muratovic</cp:lastModifiedBy>
  <cp:revision>1</cp:revision>
  <dcterms:created xsi:type="dcterms:W3CDTF">2026-09-20T13:08:41Z</dcterms:created>
  <dcterms:modified xsi:type="dcterms:W3CDTF">2026-09-20T13:08:41Z</dcterms:modified>
</cp:coreProperties>
</file>